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61" r:id="rId4"/>
    <p:sldId id="262" r:id="rId5"/>
    <p:sldId id="263" r:id="rId6"/>
    <p:sldId id="264" r:id="rId7"/>
    <p:sldId id="258" r:id="rId8"/>
    <p:sldId id="265" r:id="rId9"/>
    <p:sldId id="267" r:id="rId10"/>
    <p:sldId id="269" r:id="rId11"/>
    <p:sldId id="259" r:id="rId12"/>
    <p:sldId id="260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66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BE870-F6B9-B047-B4EC-8B7FFB59D5DD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A407B-0804-7F4D-A06C-594D3F40FC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5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E32EF-F5E0-FB4C-9392-7B16CE20DF52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ACB8-4FB9-D44E-9BFD-2F27477F22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71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130426"/>
            <a:ext cx="10566400" cy="1470025"/>
          </a:xfrm>
        </p:spPr>
        <p:txBody>
          <a:bodyPr/>
          <a:lstStyle>
            <a:lvl1pPr algn="r">
              <a:defRPr>
                <a:latin typeface="Arial Narrow"/>
                <a:cs typeface="Arial Narrow"/>
              </a:defRPr>
            </a:lvl1pPr>
          </a:lstStyle>
          <a:p>
            <a:r>
              <a:rPr lang="tr-T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1067" y="3600450"/>
            <a:ext cx="9516533" cy="1752600"/>
          </a:xfrm>
        </p:spPr>
        <p:txBody>
          <a:bodyPr/>
          <a:lstStyle>
            <a:lvl1pPr marL="0" indent="0" algn="r">
              <a:buNone/>
              <a:defRPr>
                <a:solidFill>
                  <a:srgbClr val="000000"/>
                </a:solidFill>
                <a:latin typeface="Arial Narrow"/>
                <a:cs typeface="Arial Narrow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4E977-D7F9-6246-9B15-94C08D881614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38249" y="6486526"/>
            <a:ext cx="5531556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Genel Sekreterlik Çalıştayı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98028" y="6486526"/>
            <a:ext cx="925689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9417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20010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20687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652" y="164225"/>
            <a:ext cx="3391592" cy="16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95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/>
          <a:lstStyle/>
          <a:p>
            <a:r>
              <a:rPr lang="tr-T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Genel Sekreterlik Çalıştayı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55912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0861-C1B3-B347-93DA-DDC54D6553D5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Genel Sekreterlik Çalıştayı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0946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1539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216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818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71A8-CA29-D04F-9D2F-A382FC60CC17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Genel Sekreterlik Çalıştayı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Resi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849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2EE1-A741-3644-B696-32E159E5B0A8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Genel Sekreterlik Çalıştayı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Resim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2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1DF8-0910-4546-923C-2018FF20BE57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Genel Sekreterlik Çalıştayı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65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0706-8BF2-9A4F-8578-55653A2BBB3D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Genel Sekreterlik Çalıştayı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 flipV="1">
            <a:off x="11940649" y="0"/>
            <a:ext cx="0" cy="6855884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11991449" y="0"/>
            <a:ext cx="0" cy="6855884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V="1">
            <a:off x="12042249" y="1"/>
            <a:ext cx="0" cy="6855883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966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607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140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3995-AD6D-E545-8FFB-0873E6C3DE9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Genel Sekreterlik Çalıştayı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75" y="5647284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dirty="0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A8D3C-B86A-E942-92EA-CCA5C0D5AD5C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Genel Sekreterlik Çalıştayı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78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74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E2B8-C39A-5742-9BCB-443DEEAE7058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Genel Sekreterlik Çalıştayı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219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624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639"/>
            <a:ext cx="2158827" cy="5851525"/>
          </a:xfrm>
        </p:spPr>
        <p:txBody>
          <a:bodyPr vert="eaVert"/>
          <a:lstStyle/>
          <a:p>
            <a:r>
              <a:rPr lang="tr-T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7668-A790-5843-88C5-F92CCC4D67C4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Genel Sekreterlik Çalıştayı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46323" y="5243793"/>
            <a:ext cx="1255222" cy="10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827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169" y="1409700"/>
            <a:ext cx="11637547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0819" y="6490759"/>
            <a:ext cx="1057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F1426ECF-97AB-FC44-95EE-DD6B6A6D7916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6490759"/>
            <a:ext cx="7992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Genel Sekreterlik Çalıştayı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8028" y="6490759"/>
            <a:ext cx="925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1503" y="6566960"/>
            <a:ext cx="161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0090"/>
                </a:solidFill>
                <a:latin typeface="Arial Narrow"/>
                <a:cs typeface="Arial Narrow"/>
              </a:rPr>
              <a:t>www.gtu.edu.tr</a:t>
            </a:r>
            <a:endParaRPr lang="en-US" sz="1200" dirty="0">
              <a:solidFill>
                <a:srgbClr val="000090"/>
              </a:solidFill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88126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 Narrow"/>
          <a:ea typeface="+mj-ea"/>
          <a:cs typeface="Arial Narrow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 Narrow"/>
          <a:ea typeface="+mn-ea"/>
          <a:cs typeface="Arial Narrow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 Narrow"/>
          <a:ea typeface="+mn-ea"/>
          <a:cs typeface="Arial Narrow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 Narrow"/>
          <a:ea typeface="+mn-ea"/>
          <a:cs typeface="Arial Narrow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168526"/>
            <a:ext cx="7924800" cy="1679575"/>
          </a:xfrm>
        </p:spPr>
        <p:txBody>
          <a:bodyPr/>
          <a:lstStyle/>
          <a:p>
            <a:r>
              <a:rPr lang="en-US" dirty="0"/>
              <a:t>The Title of Graduation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653408"/>
            <a:ext cx="7137400" cy="243667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CSE </a:t>
            </a:r>
            <a:r>
              <a:rPr lang="en-US" dirty="0" smtClean="0"/>
              <a:t>496</a:t>
            </a:r>
            <a:endParaRPr lang="tr-TR" dirty="0" smtClean="0"/>
          </a:p>
          <a:p>
            <a:r>
              <a:rPr lang="en-US" dirty="0" smtClean="0"/>
              <a:t>First Presentation</a:t>
            </a:r>
            <a:endParaRPr lang="tr-TR" dirty="0" smtClean="0"/>
          </a:p>
          <a:p>
            <a:endParaRPr lang="tr-TR" dirty="0" smtClean="0"/>
          </a:p>
          <a:p>
            <a:r>
              <a:rPr lang="en-US" dirty="0" smtClean="0"/>
              <a:t>Ahmet </a:t>
            </a:r>
            <a:r>
              <a:rPr lang="en-US" dirty="0" err="1" smtClean="0"/>
              <a:t>Bitircek</a:t>
            </a:r>
            <a:endParaRPr lang="tr-TR" dirty="0" smtClean="0"/>
          </a:p>
          <a:p>
            <a:endParaRPr lang="tr-TR" dirty="0" smtClean="0"/>
          </a:p>
          <a:p>
            <a:r>
              <a:rPr lang="en-US" dirty="0" smtClean="0"/>
              <a:t>Advisor</a:t>
            </a:r>
            <a:r>
              <a:rPr lang="en-US" dirty="0"/>
              <a:t>: Asst. Prof. Alp </a:t>
            </a:r>
            <a:r>
              <a:rPr lang="en-US" dirty="0" err="1"/>
              <a:t>Arslan</a:t>
            </a:r>
            <a:r>
              <a:rPr lang="en-US" dirty="0"/>
              <a:t> </a:t>
            </a:r>
            <a:r>
              <a:rPr lang="en-US" dirty="0" err="1" smtClean="0"/>
              <a:t>Bayrakci</a:t>
            </a:r>
            <a:endParaRPr lang="tr-TR" dirty="0" smtClean="0"/>
          </a:p>
          <a:p>
            <a:r>
              <a:rPr lang="en-US" dirty="0" smtClean="0"/>
              <a:t>September </a:t>
            </a:r>
            <a:r>
              <a:rPr lang="en-US" dirty="0"/>
              <a:t>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43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Project Definition</a:t>
            </a:r>
          </a:p>
          <a:p>
            <a:r>
              <a:rPr lang="tr-TR" dirty="0"/>
              <a:t>Project Design</a:t>
            </a:r>
          </a:p>
          <a:p>
            <a:r>
              <a:rPr lang="tr-TR" dirty="0"/>
              <a:t>Project </a:t>
            </a:r>
            <a:r>
              <a:rPr lang="tr-TR" dirty="0" err="1"/>
              <a:t>Requirements</a:t>
            </a:r>
            <a:r>
              <a:rPr lang="tr-TR" dirty="0"/>
              <a:t> </a:t>
            </a:r>
          </a:p>
          <a:p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r>
              <a:rPr lang="tr-TR" dirty="0"/>
              <a:t> (</a:t>
            </a:r>
            <a:r>
              <a:rPr lang="tr-TR" dirty="0" err="1"/>
              <a:t>There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be at </a:t>
            </a:r>
            <a:r>
              <a:rPr lang="tr-TR" dirty="0" err="1"/>
              <a:t>least</a:t>
            </a:r>
            <a:r>
              <a:rPr lang="tr-TR" dirty="0"/>
              <a:t> 3) </a:t>
            </a:r>
          </a:p>
          <a:p>
            <a:r>
              <a:rPr lang="tr-TR" dirty="0"/>
              <a:t>Project </a:t>
            </a:r>
            <a:r>
              <a:rPr lang="tr-TR" dirty="0" err="1"/>
              <a:t>Timeline</a:t>
            </a:r>
            <a:r>
              <a:rPr lang="tr-TR" dirty="0"/>
              <a:t> (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monthly</a:t>
            </a:r>
            <a:r>
              <a:rPr lang="tr-TR" dirty="0"/>
              <a:t> </a:t>
            </a:r>
            <a:r>
              <a:rPr lang="tr-TR" dirty="0" err="1"/>
              <a:t>granularity</a:t>
            </a:r>
            <a:r>
              <a:rPr lang="tr-TR" dirty="0"/>
              <a:t>) </a:t>
            </a:r>
          </a:p>
          <a:p>
            <a:r>
              <a:rPr lang="tr-TR" dirty="0" err="1"/>
              <a:t>References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AE15-0C4A-9243-A998-FED59F87DB60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 smtClean="0"/>
              <a:t>CSE496 – First 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1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Definition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İçerik Yer Tutucusu 2"/>
          <p:cNvSpPr txBox="1">
            <a:spLocks/>
          </p:cNvSpPr>
          <p:nvPr/>
        </p:nvSpPr>
        <p:spPr>
          <a:xfrm>
            <a:off x="5672830" y="1409700"/>
            <a:ext cx="6250885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This slide must include </a:t>
            </a:r>
            <a:r>
              <a:rPr lang="en-US" b="1" dirty="0" smtClean="0"/>
              <a:t>a figure </a:t>
            </a:r>
            <a:r>
              <a:rPr lang="en-US" dirty="0" smtClean="0"/>
              <a:t>that explains your project (like the example on the right). </a:t>
            </a:r>
            <a:endParaRPr lang="tr-TR" dirty="0" smtClean="0"/>
          </a:p>
          <a:p>
            <a:r>
              <a:rPr lang="en-US" dirty="0" smtClean="0"/>
              <a:t>Keep it simple, clear, and audience-friendly</a:t>
            </a:r>
            <a:r>
              <a:rPr lang="tr-TR" dirty="0" smtClean="0"/>
              <a:t>.</a:t>
            </a:r>
          </a:p>
          <a:p>
            <a:r>
              <a:rPr lang="en-US" dirty="0" smtClean="0"/>
              <a:t>Make sure anyone in the room can understand it</a:t>
            </a:r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9" name="İçerik Yer Tutucusu 2"/>
          <p:cNvSpPr txBox="1">
            <a:spLocks/>
          </p:cNvSpPr>
          <p:nvPr/>
        </p:nvSpPr>
        <p:spPr>
          <a:xfrm>
            <a:off x="554453" y="5175689"/>
            <a:ext cx="11637547" cy="125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Explain what the project is for / what it does</a:t>
            </a:r>
            <a:r>
              <a:rPr lang="tr-TR" dirty="0" smtClean="0"/>
              <a:t>.</a:t>
            </a:r>
          </a:p>
          <a:p>
            <a:r>
              <a:rPr lang="en-US" dirty="0" smtClean="0"/>
              <a:t>No technical details on this slide.</a:t>
            </a:r>
            <a:endParaRPr lang="tr-TR" dirty="0"/>
          </a:p>
        </p:txBody>
      </p:sp>
      <p:pic>
        <p:nvPicPr>
          <p:cNvPr id="12" name="Resim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98" y="1518081"/>
            <a:ext cx="6147309" cy="345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Design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190912" y="1455269"/>
            <a:ext cx="4838330" cy="49911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 this slide, explain </a:t>
            </a:r>
            <a:r>
              <a:rPr lang="en-US" b="1" dirty="0" smtClean="0"/>
              <a:t>HOW</a:t>
            </a:r>
            <a:r>
              <a:rPr lang="en-US" dirty="0" smtClean="0"/>
              <a:t> </a:t>
            </a:r>
            <a:r>
              <a:rPr lang="en-US" dirty="0"/>
              <a:t>you plan to build the </a:t>
            </a:r>
            <a:r>
              <a:rPr lang="en-US" dirty="0" smtClean="0"/>
              <a:t>Project</a:t>
            </a:r>
            <a:r>
              <a:rPr lang="tr-TR" dirty="0" smtClean="0"/>
              <a:t>.</a:t>
            </a:r>
          </a:p>
          <a:p>
            <a:r>
              <a:rPr lang="en-US" dirty="0" smtClean="0"/>
              <a:t>A </a:t>
            </a:r>
            <a:r>
              <a:rPr lang="en-US" dirty="0"/>
              <a:t>diagram like the one on the left is very helpful (components, connections, data/control flow</a:t>
            </a:r>
            <a:r>
              <a:rPr lang="en-US" dirty="0" smtClean="0"/>
              <a:t>).</a:t>
            </a:r>
            <a:endParaRPr lang="tr-TR" dirty="0" smtClean="0"/>
          </a:p>
          <a:p>
            <a:r>
              <a:rPr lang="en-US" b="1" dirty="0" smtClean="0"/>
              <a:t>UML</a:t>
            </a:r>
            <a:r>
              <a:rPr lang="en-US" dirty="0" smtClean="0"/>
              <a:t> </a:t>
            </a:r>
            <a:r>
              <a:rPr lang="en-US" dirty="0"/>
              <a:t>(use-case, class, sequence) and </a:t>
            </a:r>
            <a:r>
              <a:rPr lang="tr-TR" b="1" dirty="0" err="1" smtClean="0"/>
              <a:t>state</a:t>
            </a:r>
            <a:r>
              <a:rPr lang="tr-TR" b="1" dirty="0" smtClean="0"/>
              <a:t> </a:t>
            </a:r>
            <a:r>
              <a:rPr lang="en-US" b="1" dirty="0" smtClean="0"/>
              <a:t>diagrams</a:t>
            </a:r>
            <a:r>
              <a:rPr lang="tr-TR" b="1" dirty="0" smtClean="0"/>
              <a:t> </a:t>
            </a:r>
            <a:r>
              <a:rPr lang="en-US" dirty="0" smtClean="0"/>
              <a:t>can </a:t>
            </a:r>
            <a:r>
              <a:rPr lang="en-US" dirty="0"/>
              <a:t>help describe your design clearly.</a:t>
            </a:r>
            <a:endParaRPr lang="tr-TR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4" y="1661252"/>
            <a:ext cx="7481455" cy="420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3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</a:t>
            </a:r>
            <a:r>
              <a:rPr lang="tr-TR" dirty="0" err="1"/>
              <a:t>Requirements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Here, explain </a:t>
            </a:r>
            <a:r>
              <a:rPr lang="en-US" dirty="0" smtClean="0"/>
              <a:t>what </a:t>
            </a:r>
            <a:r>
              <a:rPr lang="en-US" dirty="0"/>
              <a:t>you will </a:t>
            </a:r>
            <a:r>
              <a:rPr lang="en-US" dirty="0" smtClean="0"/>
              <a:t>need </a:t>
            </a:r>
            <a:r>
              <a:rPr lang="en-US" dirty="0"/>
              <a:t>to realize the project—i.e., the resources required to do what you described on the previous </a:t>
            </a:r>
            <a:r>
              <a:rPr lang="en-US" dirty="0" smtClean="0"/>
              <a:t>slide.</a:t>
            </a:r>
            <a:endParaRPr lang="tr-TR" dirty="0" smtClean="0"/>
          </a:p>
          <a:p>
            <a:r>
              <a:rPr lang="en-US" b="1" dirty="0" smtClean="0"/>
              <a:t>Software</a:t>
            </a:r>
            <a:r>
              <a:rPr lang="en-US" dirty="0" smtClean="0"/>
              <a:t>: </a:t>
            </a:r>
            <a:r>
              <a:rPr lang="en-US" dirty="0"/>
              <a:t>Which programs, frameworks, libraries, toolchains, etc. will you </a:t>
            </a:r>
            <a:r>
              <a:rPr lang="en-US" dirty="0" smtClean="0"/>
              <a:t>need?</a:t>
            </a:r>
            <a:endParaRPr lang="tr-TR" dirty="0" smtClean="0"/>
          </a:p>
          <a:p>
            <a:r>
              <a:rPr lang="en-US" b="1" dirty="0" smtClean="0"/>
              <a:t>Hardware</a:t>
            </a:r>
            <a:r>
              <a:rPr lang="en-US" dirty="0" smtClean="0"/>
              <a:t>:</a:t>
            </a:r>
            <a:r>
              <a:rPr lang="tr-TR" dirty="0" smtClean="0"/>
              <a:t> </a:t>
            </a:r>
            <a:r>
              <a:rPr lang="en-US" dirty="0" smtClean="0"/>
              <a:t>Which </a:t>
            </a:r>
            <a:r>
              <a:rPr lang="en-US" dirty="0"/>
              <a:t>devices, sensors, boards, interfaces, I/O units, etc. will you </a:t>
            </a:r>
            <a:r>
              <a:rPr lang="en-US" dirty="0" smtClean="0"/>
              <a:t>need</a:t>
            </a:r>
            <a:r>
              <a:rPr lang="tr-TR" dirty="0" smtClean="0"/>
              <a:t>?</a:t>
            </a:r>
          </a:p>
          <a:p>
            <a:r>
              <a:rPr lang="en-US" b="1" dirty="0" smtClean="0"/>
              <a:t>Other </a:t>
            </a:r>
            <a:r>
              <a:rPr lang="en-US" b="1" dirty="0"/>
              <a:t>resources</a:t>
            </a:r>
            <a:r>
              <a:rPr lang="en-US" dirty="0" smtClean="0"/>
              <a:t>: </a:t>
            </a:r>
            <a:r>
              <a:rPr lang="en-US" dirty="0"/>
              <a:t>What else is required to execute the project</a:t>
            </a:r>
            <a:r>
              <a:rPr lang="en-US" dirty="0" smtClean="0"/>
              <a:t>? </a:t>
            </a:r>
            <a:r>
              <a:rPr lang="en-US" dirty="0"/>
              <a:t>(e.g., participants/subjects, datasets such as base-station data, Twitter data, image collections of people, etc.)</a:t>
            </a:r>
            <a:endParaRPr lang="tr-TR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47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r>
              <a:rPr lang="tr-TR" dirty="0"/>
              <a:t> </a:t>
            </a:r>
            <a:r>
              <a:rPr lang="tr-TR" dirty="0" err="1"/>
              <a:t>must</a:t>
            </a:r>
            <a:r>
              <a:rPr lang="tr-TR" dirty="0"/>
              <a:t> be </a:t>
            </a:r>
            <a:r>
              <a:rPr lang="tr-TR" b="1" dirty="0" err="1" smtClean="0"/>
              <a:t>concrete</a:t>
            </a:r>
            <a:r>
              <a:rPr lang="tr-TR" dirty="0" smtClean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b="1" dirty="0" err="1" smtClean="0"/>
              <a:t>testable</a:t>
            </a:r>
            <a:r>
              <a:rPr lang="tr-TR" dirty="0" smtClean="0"/>
              <a:t>. </a:t>
            </a:r>
          </a:p>
          <a:p>
            <a:pPr lvl="1"/>
            <a:r>
              <a:rPr lang="tr-TR" dirty="0" err="1"/>
              <a:t>Statements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“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works</a:t>
            </a:r>
            <a:r>
              <a:rPr lang="tr-TR" dirty="0"/>
              <a:t> </a:t>
            </a:r>
            <a:r>
              <a:rPr lang="tr-TR" dirty="0" err="1"/>
              <a:t>fine</a:t>
            </a:r>
            <a:r>
              <a:rPr lang="tr-TR" dirty="0"/>
              <a:t>” </a:t>
            </a:r>
            <a:r>
              <a:rPr lang="tr-TR" dirty="0" err="1"/>
              <a:t>or</a:t>
            </a:r>
            <a:r>
              <a:rPr lang="tr-TR" dirty="0"/>
              <a:t> “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advisor</a:t>
            </a:r>
            <a:r>
              <a:rPr lang="tr-TR" dirty="0"/>
              <a:t> is </a:t>
            </a:r>
            <a:r>
              <a:rPr lang="tr-TR" dirty="0" err="1"/>
              <a:t>happy</a:t>
            </a:r>
            <a:r>
              <a:rPr lang="tr-TR" dirty="0"/>
              <a:t>” </a:t>
            </a:r>
            <a:r>
              <a:rPr lang="tr-TR" dirty="0" err="1"/>
              <a:t>are</a:t>
            </a:r>
            <a:r>
              <a:rPr lang="tr-TR" dirty="0"/>
              <a:t> not </a:t>
            </a:r>
            <a:r>
              <a:rPr lang="tr-TR" dirty="0" err="1"/>
              <a:t>valid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Not </a:t>
            </a:r>
            <a:r>
              <a:rPr lang="tr-TR" dirty="0" err="1"/>
              <a:t>every</a:t>
            </a:r>
            <a:r>
              <a:rPr lang="tr-TR" dirty="0"/>
              <a:t> </a:t>
            </a:r>
            <a:r>
              <a:rPr lang="tr-TR" dirty="0" err="1"/>
              <a:t>criterion</a:t>
            </a:r>
            <a:r>
              <a:rPr lang="tr-TR" dirty="0"/>
              <a:t> has </a:t>
            </a:r>
            <a:r>
              <a:rPr lang="tr-TR" dirty="0" err="1"/>
              <a:t>to</a:t>
            </a:r>
            <a:r>
              <a:rPr lang="tr-TR" dirty="0"/>
              <a:t> be </a:t>
            </a:r>
            <a:r>
              <a:rPr lang="tr-TR" dirty="0" err="1"/>
              <a:t>numeric</a:t>
            </a:r>
            <a:r>
              <a:rPr lang="tr-TR" dirty="0"/>
              <a:t>.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example</a:t>
            </a:r>
            <a:r>
              <a:rPr lang="tr-TR" dirty="0"/>
              <a:t>: “</a:t>
            </a:r>
            <a:r>
              <a:rPr lang="tr-TR" dirty="0" err="1"/>
              <a:t>Detect</a:t>
            </a:r>
            <a:r>
              <a:rPr lang="tr-TR" dirty="0"/>
              <a:t> </a:t>
            </a:r>
            <a:r>
              <a:rPr lang="tr-TR" dirty="0" err="1"/>
              <a:t>whenever</a:t>
            </a:r>
            <a:r>
              <a:rPr lang="tr-TR" dirty="0"/>
              <a:t> a </a:t>
            </a:r>
            <a:r>
              <a:rPr lang="tr-TR" dirty="0" err="1"/>
              <a:t>window</a:t>
            </a:r>
            <a:r>
              <a:rPr lang="tr-TR" dirty="0"/>
              <a:t> is </a:t>
            </a:r>
            <a:r>
              <a:rPr lang="tr-TR" dirty="0" err="1"/>
              <a:t>opened</a:t>
            </a:r>
            <a:r>
              <a:rPr lang="tr-TR" dirty="0"/>
              <a:t>", </a:t>
            </a:r>
            <a:r>
              <a:rPr lang="tr-TR" dirty="0" err="1"/>
              <a:t>or</a:t>
            </a:r>
            <a:r>
              <a:rPr lang="tr-TR" dirty="0"/>
              <a:t> “</a:t>
            </a:r>
            <a:r>
              <a:rPr lang="tr-TR" dirty="0" err="1"/>
              <a:t>When</a:t>
            </a:r>
            <a:r>
              <a:rPr lang="tr-TR" dirty="0"/>
              <a:t> an </a:t>
            </a:r>
            <a:r>
              <a:rPr lang="tr-TR" dirty="0" err="1"/>
              <a:t>intruder</a:t>
            </a:r>
            <a:r>
              <a:rPr lang="tr-TR" dirty="0"/>
              <a:t> is </a:t>
            </a:r>
            <a:r>
              <a:rPr lang="tr-TR" dirty="0" err="1"/>
              <a:t>detected</a:t>
            </a:r>
            <a:r>
              <a:rPr lang="tr-TR" dirty="0"/>
              <a:t>, </a:t>
            </a:r>
            <a:r>
              <a:rPr lang="tr-TR" dirty="0" err="1"/>
              <a:t>send</a:t>
            </a:r>
            <a:r>
              <a:rPr lang="tr-TR" dirty="0"/>
              <a:t> an SMS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registered</a:t>
            </a:r>
            <a:r>
              <a:rPr lang="tr-TR" dirty="0"/>
              <a:t> </a:t>
            </a:r>
            <a:r>
              <a:rPr lang="tr-TR" dirty="0" err="1"/>
              <a:t>phones</a:t>
            </a:r>
            <a:r>
              <a:rPr lang="tr-TR" dirty="0"/>
              <a:t>” </a:t>
            </a:r>
            <a:r>
              <a:rPr lang="tr-TR" b="1" dirty="0"/>
              <a:t>can</a:t>
            </a:r>
            <a:r>
              <a:rPr lang="tr-TR" dirty="0"/>
              <a:t> be </a:t>
            </a:r>
            <a:r>
              <a:rPr lang="tr-TR" dirty="0" err="1"/>
              <a:t>valid</a:t>
            </a:r>
            <a:r>
              <a:rPr lang="tr-TR" dirty="0"/>
              <a:t> </a:t>
            </a:r>
            <a:r>
              <a:rPr lang="tr-TR" dirty="0" err="1"/>
              <a:t>criteria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/>
              <a:t>key</a:t>
            </a:r>
            <a:r>
              <a:rPr lang="tr-TR" dirty="0"/>
              <a:t> </a:t>
            </a:r>
            <a:r>
              <a:rPr lang="tr-TR" dirty="0" err="1"/>
              <a:t>point</a:t>
            </a:r>
            <a:r>
              <a:rPr lang="tr-TR" dirty="0"/>
              <a:t>: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criterion</a:t>
            </a:r>
            <a:r>
              <a:rPr lang="tr-TR" dirty="0"/>
              <a:t> </a:t>
            </a:r>
            <a:r>
              <a:rPr lang="tr-TR" dirty="0" err="1"/>
              <a:t>must</a:t>
            </a:r>
            <a:r>
              <a:rPr lang="tr-TR" dirty="0"/>
              <a:t> be </a:t>
            </a:r>
            <a:r>
              <a:rPr lang="tr-TR" b="1" dirty="0" err="1" smtClean="0"/>
              <a:t>verifiable</a:t>
            </a:r>
            <a:r>
              <a:rPr lang="tr-TR" b="1" dirty="0" smtClean="0"/>
              <a:t>/</a:t>
            </a:r>
            <a:r>
              <a:rPr lang="tr-TR" b="1" dirty="0" err="1" smtClean="0"/>
              <a:t>testable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Include</a:t>
            </a:r>
            <a:r>
              <a:rPr lang="tr-TR" dirty="0" smtClean="0"/>
              <a:t> </a:t>
            </a:r>
            <a:r>
              <a:rPr lang="tr-TR" b="1" dirty="0" err="1" smtClean="0"/>
              <a:t>quantitative</a:t>
            </a:r>
            <a:r>
              <a:rPr lang="tr-TR" dirty="0"/>
              <a:t>, </a:t>
            </a:r>
            <a:r>
              <a:rPr lang="tr-TR" b="1" dirty="0" err="1" smtClean="0"/>
              <a:t>measurable</a:t>
            </a:r>
            <a:r>
              <a:rPr lang="tr-TR" dirty="0" smtClean="0"/>
              <a:t> </a:t>
            </a:r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target</a:t>
            </a:r>
            <a:r>
              <a:rPr lang="tr-TR" dirty="0"/>
              <a:t> </a:t>
            </a:r>
            <a:r>
              <a:rPr lang="tr-TR" dirty="0" err="1"/>
              <a:t>thresholds</a:t>
            </a:r>
            <a:r>
              <a:rPr lang="tr-TR" dirty="0"/>
              <a:t> (</a:t>
            </a:r>
            <a:r>
              <a:rPr lang="tr-TR" dirty="0" err="1"/>
              <a:t>e.g</a:t>
            </a:r>
            <a:r>
              <a:rPr lang="tr-TR" dirty="0"/>
              <a:t>., </a:t>
            </a:r>
            <a:r>
              <a:rPr lang="tr-TR" dirty="0" err="1"/>
              <a:t>accuracy</a:t>
            </a:r>
            <a:r>
              <a:rPr lang="tr-TR" dirty="0"/>
              <a:t> </a:t>
            </a:r>
            <a:r>
              <a:rPr lang="tr-TR" dirty="0" smtClean="0"/>
              <a:t>≥ 90%, </a:t>
            </a:r>
            <a:r>
              <a:rPr lang="tr-TR" dirty="0" err="1"/>
              <a:t>latency</a:t>
            </a:r>
            <a:r>
              <a:rPr lang="tr-TR" dirty="0"/>
              <a:t> </a:t>
            </a:r>
            <a:r>
              <a:rPr lang="tr-TR" dirty="0" smtClean="0"/>
              <a:t>≤ 200 </a:t>
            </a:r>
            <a:r>
              <a:rPr lang="tr-TR" dirty="0" err="1" smtClean="0"/>
              <a:t>ms</a:t>
            </a:r>
            <a:r>
              <a:rPr lang="tr-TR" dirty="0" smtClean="0"/>
              <a:t>, </a:t>
            </a:r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alarms</a:t>
            </a:r>
            <a:r>
              <a:rPr lang="tr-TR" dirty="0"/>
              <a:t> </a:t>
            </a:r>
            <a:r>
              <a:rPr lang="tr-TR" dirty="0" smtClean="0"/>
              <a:t>&lt; 1/</a:t>
            </a:r>
            <a:r>
              <a:rPr lang="tr-TR" dirty="0" err="1" smtClean="0"/>
              <a:t>day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6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Timeline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44" y="1401500"/>
            <a:ext cx="9957312" cy="47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0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References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tr-TR" sz="2200" dirty="0" err="1" smtClean="0"/>
              <a:t>Fujimoto</a:t>
            </a:r>
            <a:r>
              <a:rPr lang="tr-TR" sz="2200" dirty="0"/>
              <a:t>, R. M., “</a:t>
            </a:r>
            <a:r>
              <a:rPr lang="tr-TR" sz="2200" dirty="0" err="1"/>
              <a:t>Parallel</a:t>
            </a:r>
            <a:r>
              <a:rPr lang="tr-TR" sz="2200" dirty="0"/>
              <a:t> </a:t>
            </a:r>
            <a:r>
              <a:rPr lang="tr-TR" sz="2200" dirty="0" err="1"/>
              <a:t>and</a:t>
            </a:r>
            <a:r>
              <a:rPr lang="tr-TR" sz="2200" dirty="0"/>
              <a:t> Distributed </a:t>
            </a:r>
            <a:r>
              <a:rPr lang="tr-TR" sz="2200" dirty="0" err="1"/>
              <a:t>Simulation</a:t>
            </a:r>
            <a:r>
              <a:rPr lang="tr-TR" sz="2200" dirty="0"/>
              <a:t> </a:t>
            </a:r>
            <a:r>
              <a:rPr lang="tr-TR" sz="2200" dirty="0" err="1"/>
              <a:t>Systems</a:t>
            </a:r>
            <a:r>
              <a:rPr lang="tr-TR" sz="2200" dirty="0"/>
              <a:t>”, John </a:t>
            </a:r>
            <a:r>
              <a:rPr lang="tr-TR" sz="2200" dirty="0" err="1"/>
              <a:t>Wiley</a:t>
            </a:r>
            <a:r>
              <a:rPr lang="tr-TR" sz="2200" dirty="0"/>
              <a:t> &amp; </a:t>
            </a:r>
            <a:r>
              <a:rPr lang="tr-TR" sz="2200" dirty="0" err="1"/>
              <a:t>Sons</a:t>
            </a:r>
            <a:r>
              <a:rPr lang="tr-TR" sz="2200" dirty="0"/>
              <a:t> </a:t>
            </a:r>
            <a:r>
              <a:rPr lang="tr-TR" sz="2200" dirty="0" err="1"/>
              <a:t>Inc</a:t>
            </a:r>
            <a:r>
              <a:rPr lang="tr-TR" sz="2200" dirty="0"/>
              <a:t>, </a:t>
            </a:r>
            <a:r>
              <a:rPr lang="tr-TR" sz="2200" dirty="0" smtClean="0"/>
              <a:t>2000</a:t>
            </a:r>
          </a:p>
          <a:p>
            <a:pPr marL="514350" indent="-514350">
              <a:buAutoNum type="arabicPeriod"/>
            </a:pPr>
            <a:r>
              <a:rPr lang="tr-TR" sz="2200" dirty="0" err="1" smtClean="0"/>
              <a:t>Mattern</a:t>
            </a:r>
            <a:r>
              <a:rPr lang="tr-TR" sz="2200" dirty="0"/>
              <a:t>, F., “</a:t>
            </a:r>
            <a:r>
              <a:rPr lang="tr-TR" sz="2200" dirty="0" err="1"/>
              <a:t>Efficient</a:t>
            </a:r>
            <a:r>
              <a:rPr lang="tr-TR" sz="2200" dirty="0"/>
              <a:t> </a:t>
            </a:r>
            <a:r>
              <a:rPr lang="tr-TR" sz="2200" dirty="0" err="1"/>
              <a:t>Algorithms</a:t>
            </a:r>
            <a:r>
              <a:rPr lang="tr-TR" sz="2200" dirty="0"/>
              <a:t> </a:t>
            </a:r>
            <a:r>
              <a:rPr lang="tr-TR" sz="2200" dirty="0" err="1"/>
              <a:t>for</a:t>
            </a:r>
            <a:r>
              <a:rPr lang="tr-TR" sz="2200" dirty="0"/>
              <a:t> Distributed </a:t>
            </a:r>
            <a:r>
              <a:rPr lang="tr-TR" sz="2200" dirty="0" err="1"/>
              <a:t>Snapshots</a:t>
            </a:r>
            <a:r>
              <a:rPr lang="tr-TR" sz="2200" dirty="0"/>
              <a:t> </a:t>
            </a:r>
            <a:r>
              <a:rPr lang="tr-TR" sz="2200" dirty="0" err="1"/>
              <a:t>and</a:t>
            </a:r>
            <a:r>
              <a:rPr lang="tr-TR" sz="2200" dirty="0"/>
              <a:t> Global Virtual Time </a:t>
            </a:r>
            <a:r>
              <a:rPr lang="tr-TR" sz="2200" dirty="0" err="1"/>
              <a:t>Approximation</a:t>
            </a:r>
            <a:r>
              <a:rPr lang="tr-TR" sz="2200" dirty="0"/>
              <a:t>”, </a:t>
            </a:r>
            <a:r>
              <a:rPr lang="tr-TR" sz="2200" dirty="0" err="1"/>
              <a:t>Parallel</a:t>
            </a:r>
            <a:r>
              <a:rPr lang="tr-TR" sz="2200" dirty="0"/>
              <a:t> </a:t>
            </a:r>
            <a:r>
              <a:rPr lang="tr-TR" sz="2200" dirty="0" err="1"/>
              <a:t>and</a:t>
            </a:r>
            <a:r>
              <a:rPr lang="tr-TR" sz="2200" dirty="0"/>
              <a:t> Distributed Computing, </a:t>
            </a:r>
            <a:r>
              <a:rPr lang="tr-TR" sz="2200" dirty="0" err="1"/>
              <a:t>Vol</a:t>
            </a:r>
            <a:r>
              <a:rPr lang="tr-TR" sz="2200" dirty="0"/>
              <a:t>. 18 No. 4, </a:t>
            </a:r>
            <a:r>
              <a:rPr lang="tr-TR" sz="2200" dirty="0" smtClean="0"/>
              <a:t>1993</a:t>
            </a:r>
          </a:p>
          <a:p>
            <a:pPr marL="514350" indent="-514350">
              <a:buAutoNum type="arabicPeriod"/>
            </a:pPr>
            <a:r>
              <a:rPr lang="tr-TR" sz="2200" dirty="0" err="1" smtClean="0"/>
              <a:t>Bauer</a:t>
            </a:r>
            <a:r>
              <a:rPr lang="tr-TR" sz="2200" dirty="0"/>
              <a:t>, D., </a:t>
            </a:r>
            <a:r>
              <a:rPr lang="tr-TR" sz="2200" dirty="0" err="1"/>
              <a:t>Yaun</a:t>
            </a:r>
            <a:r>
              <a:rPr lang="tr-TR" sz="2200" dirty="0"/>
              <a:t>, G., </a:t>
            </a:r>
            <a:r>
              <a:rPr lang="tr-TR" sz="2200" dirty="0" err="1"/>
              <a:t>Carothers</a:t>
            </a:r>
            <a:r>
              <a:rPr lang="tr-TR" sz="2200" dirty="0"/>
              <a:t>, C., </a:t>
            </a:r>
            <a:r>
              <a:rPr lang="tr-TR" sz="2200" dirty="0" err="1"/>
              <a:t>Yuksel</a:t>
            </a:r>
            <a:r>
              <a:rPr lang="tr-TR" sz="2200" dirty="0"/>
              <a:t>, M., </a:t>
            </a:r>
            <a:r>
              <a:rPr lang="tr-TR" sz="2200" dirty="0" err="1"/>
              <a:t>Kalyanaraman</a:t>
            </a:r>
            <a:r>
              <a:rPr lang="tr-TR" sz="2200" dirty="0"/>
              <a:t>, S., “Seven-</a:t>
            </a:r>
            <a:r>
              <a:rPr lang="tr-TR" sz="2200" dirty="0" err="1"/>
              <a:t>O'Clock</a:t>
            </a:r>
            <a:r>
              <a:rPr lang="tr-TR" sz="2200" dirty="0"/>
              <a:t>: A New Distributed GVT </a:t>
            </a:r>
            <a:r>
              <a:rPr lang="tr-TR" sz="2200" dirty="0" err="1"/>
              <a:t>Algorithm</a:t>
            </a:r>
            <a:r>
              <a:rPr lang="tr-TR" sz="2200" dirty="0"/>
              <a:t> Using Network </a:t>
            </a:r>
            <a:r>
              <a:rPr lang="tr-TR" sz="2200" dirty="0" err="1"/>
              <a:t>Atomic</a:t>
            </a:r>
            <a:r>
              <a:rPr lang="tr-TR" sz="2200" dirty="0"/>
              <a:t> Operations”, PADS </a:t>
            </a:r>
            <a:r>
              <a:rPr lang="tr-TR" sz="2200" dirty="0" smtClean="0"/>
              <a:t>2005</a:t>
            </a:r>
          </a:p>
          <a:p>
            <a:pPr marL="514350" indent="-514350">
              <a:buAutoNum type="arabicPeriod"/>
            </a:pPr>
            <a:r>
              <a:rPr lang="tr-TR" sz="2200" dirty="0" smtClean="0"/>
              <a:t>MSDN </a:t>
            </a:r>
            <a:r>
              <a:rPr lang="tr-TR" sz="2200" dirty="0"/>
              <a:t>, </a:t>
            </a:r>
            <a:r>
              <a:rPr lang="tr-TR" sz="2200" dirty="0" err="1"/>
              <a:t>developer</a:t>
            </a:r>
            <a:r>
              <a:rPr lang="tr-TR" sz="2200" dirty="0"/>
              <a:t> network [online], http://msdn.microsoft.com/en-us/library/dd409390.aspx [Ziyaret Tarihi: 9 Eylül 2013].       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96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More</a:t>
            </a:r>
            <a:r>
              <a:rPr lang="tr-TR" dirty="0" smtClean="0"/>
              <a:t> </a:t>
            </a:r>
            <a:r>
              <a:rPr lang="tr-TR" dirty="0" err="1" smtClean="0"/>
              <a:t>types</a:t>
            </a:r>
            <a:r>
              <a:rPr lang="tr-TR" dirty="0" smtClean="0"/>
              <a:t> of </a:t>
            </a:r>
            <a:r>
              <a:rPr lang="tr-TR" dirty="0" err="1" smtClean="0"/>
              <a:t>slide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accommodate different needs, multiple examples are enclosed and may be used as required.</a:t>
            </a:r>
            <a:endParaRPr lang="tr-TR" dirty="0"/>
          </a:p>
          <a:p>
            <a:r>
              <a:rPr lang="en-US" dirty="0"/>
              <a:t>Please refer to the subsequent slides for illustrative examples.</a:t>
            </a:r>
            <a:endParaRPr lang="tr-TR" dirty="0"/>
          </a:p>
          <a:p>
            <a:endParaRPr lang="tr-TR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2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0861-C1B3-B347-93DA-DDC54D6553D5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48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13100" y="1841500"/>
            <a:ext cx="2755900" cy="2984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813300" y="2755900"/>
            <a:ext cx="4166314" cy="1219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DİYAGRAM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8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Bozdağ kayak merkezi</a:t>
            </a:r>
            <a:endParaRPr lang="en-US" dirty="0"/>
          </a:p>
        </p:txBody>
      </p:sp>
      <p:pic>
        <p:nvPicPr>
          <p:cNvPr id="8" name="Picture Placeholder 7" descr="bozdag_kayak_merkezinde_kar_keyfi_h2607.jpg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Resim ekleme için şablondan resim sayfa düzeni seçilir. Boşluktaki Ikon tıklanınca resim yükleme penceresi açılır. 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0706-8BF2-9A4F-8578-55653A2BBB3D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33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3995-AD6D-E545-8FFB-0873E6C3DE9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36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TU-ŞABLON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st-sunum-GTU" id="{578639C5-6840-EB44-BB8C-38A47CB3FC37}" vid="{F2FEAD9A-9D10-6743-913C-E16FF5C7AA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389811D033C74F8C5494A71C07DB29" ma:contentTypeVersion="0" ma:contentTypeDescription="Create a new document." ma:contentTypeScope="" ma:versionID="0120f00a6e22405ba742fd648e0b08c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584023-2426-4597-A7B7-5BEBE999C69F}"/>
</file>

<file path=customXml/itemProps2.xml><?xml version="1.0" encoding="utf-8"?>
<ds:datastoreItem xmlns:ds="http://schemas.openxmlformats.org/officeDocument/2006/customXml" ds:itemID="{13F19564-8C6F-45DC-9ED0-17F7702A303B}"/>
</file>

<file path=customXml/itemProps3.xml><?xml version="1.0" encoding="utf-8"?>
<ds:datastoreItem xmlns:ds="http://schemas.openxmlformats.org/officeDocument/2006/customXml" ds:itemID="{C045251B-9984-414C-BAB5-F5F3B79DCF0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559</Words>
  <Application>Microsoft Office PowerPoint</Application>
  <PresentationFormat>Geniş ekran</PresentationFormat>
  <Paragraphs>84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Arial</vt:lpstr>
      <vt:lpstr>Arial Narrow</vt:lpstr>
      <vt:lpstr>Calibri</vt:lpstr>
      <vt:lpstr>GTU-ŞABLON-1</vt:lpstr>
      <vt:lpstr>The Title of Graduation Project</vt:lpstr>
      <vt:lpstr>Contents</vt:lpstr>
      <vt:lpstr>Project Definition</vt:lpstr>
      <vt:lpstr>Project Design</vt:lpstr>
      <vt:lpstr>Project Requirements</vt:lpstr>
      <vt:lpstr>Success Criteria</vt:lpstr>
      <vt:lpstr>Project Timeline</vt:lpstr>
      <vt:lpstr>References</vt:lpstr>
      <vt:lpstr>More types of slide</vt:lpstr>
      <vt:lpstr>PowerPoint Sunusu</vt:lpstr>
      <vt:lpstr>PowerPoint Sunusu</vt:lpstr>
      <vt:lpstr>Bozdağ kayak merkezi</vt:lpstr>
      <vt:lpstr>PowerPoint Sunusu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Mehmet Göktürk</dc:creator>
  <cp:lastModifiedBy>user</cp:lastModifiedBy>
  <cp:revision>17</cp:revision>
  <dcterms:created xsi:type="dcterms:W3CDTF">2015-02-28T16:59:24Z</dcterms:created>
  <dcterms:modified xsi:type="dcterms:W3CDTF">2025-10-14T08:19:39Z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0x010100E9389811D033C74F8C5494A71C07DB29</vt:lpwstr>
  </property>
</Properties>
</file>